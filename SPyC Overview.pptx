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8EC20E35-A176-4012-BC5E-935CFFF8708E}">
  <a:tblStyle styleId="{8EC20E35-A176-4012-BC5E-935CFFF8708E}" styleName="Medium Style 3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38100">
              <a:solidFill>
                <a:schemeClr val="dk1"/>
              </a:solidFill>
            </a:ln>
          </a:top>
          <a:bottom>
            <a:ln w="38100">
              <a:solidFill>
                <a:schemeClr val="dk1"/>
              </a:solidFill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band2V>
      <a:tcStyle>
        <a:tcBdr/>
        <a:fill>
          <a:solidFill>
            <a:schemeClr val="accent3">
              <a:tint val="2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38100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623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864134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11483618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839742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786588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207547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713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35030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9136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5683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264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9859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D34FEC-9E51-A785-8569-BA5FD34332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DAE6DA-5FAF-8029-6FB7-00264FC110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3553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61265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3754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5BDB5D-F22F-1E80-70C9-4C0EB748FD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557355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2019754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2268738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8890483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2983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35311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8279012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932332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8006905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50357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7756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668947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252219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8277178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9297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8196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8050178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2487992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772647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9966081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47947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643432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0283750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5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2705211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5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85984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5114003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9345382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4464656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910189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7011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0549395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39905854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945237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04980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74015784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48162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336003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81889360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7539581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8082197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48813174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80590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89516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2345908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10203459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383117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0466166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90737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6688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1636339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322460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8351527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5295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8533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6331713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041082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5450694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09336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360839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187915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8550983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8441422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10195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l" defTabSz="685800" rtl="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cwahrenburg/spc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sq.org/quality-resources/statistical-process-control" TargetMode="External"/><Relationship Id="rId4" Type="http://schemas.openxmlformats.org/officeDocument/2006/relationships/hyperlink" Target="https://en.wikipedia.org/wiki/Nelson_rules" TargetMode="Externa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n.wikipedia.org/wiki/Nelson_rules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494015" name="Titl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 b="1" u="none"/>
              <a:t>SPyC:</a:t>
            </a:r>
            <a:r>
              <a:rPr lang="en-US" b="1"/>
              <a:t> Simple Statistical Process Control System </a:t>
            </a:r>
            <a:br>
              <a:rPr lang="en-US" b="1"/>
            </a:br>
            <a:r>
              <a:rPr lang="en-US" b="1"/>
              <a:t>(CS50 Final Project)</a:t>
            </a:r>
            <a:br>
              <a:rPr lang="en-US" b="1"/>
            </a:br>
            <a:endParaRPr b="1"/>
          </a:p>
        </p:txBody>
      </p:sp>
      <p:sp>
        <p:nvSpPr>
          <p:cNvPr id="120464199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/>
              <a:t>Created by: Chris Wahrenburg</a:t>
            </a:r>
            <a:endParaRPr sz="3600" b="0"/>
          </a:p>
          <a:p>
            <a:pPr>
              <a:defRPr/>
            </a:pPr>
            <a:r>
              <a:rPr sz="2800" b="0"/>
              <a:t>Github: </a:t>
            </a:r>
            <a:r>
              <a:rPr lang="en-US" sz="2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"/>
              </a:rPr>
              <a:t>https://github.com/cwahrenburg/spc</a:t>
            </a:r>
            <a:endParaRPr sz="2800" b="0"/>
          </a:p>
          <a:p>
            <a:pPr>
              <a:defRPr/>
            </a:pPr>
            <a:r>
              <a:rPr sz="2800" b="0"/>
              <a:t>edX: cpw712</a:t>
            </a:r>
            <a:endParaRPr sz="2800" b="0"/>
          </a:p>
          <a:p>
            <a:pPr>
              <a:defRPr/>
            </a:pPr>
            <a:r>
              <a:rPr sz="2800" b="0"/>
              <a:t>Madison, CT USA</a:t>
            </a:r>
            <a:endParaRPr sz="2800" b="0"/>
          </a:p>
          <a:p>
            <a:pPr>
              <a:defRPr/>
            </a:pPr>
            <a:r>
              <a:rPr sz="2800" b="0"/>
              <a:t>March 27, 2026</a:t>
            </a:r>
            <a:endParaRPr sz="28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547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Introduction / Problem</a:t>
            </a:r>
            <a:endParaRPr/>
          </a:p>
        </p:txBody>
      </p:sp>
      <p:sp>
        <p:nvSpPr>
          <p:cNvPr id="164349910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Font typeface="Arial"/>
              <a:buNone/>
              <a:defRPr/>
            </a:pPr>
            <a:r>
              <a:rPr sz="2000" b="1"/>
              <a:t>Definition</a:t>
            </a:r>
            <a:r>
              <a:rPr sz="2000"/>
              <a:t>: </a:t>
            </a:r>
            <a:endParaRPr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Statistical process control (SPC) is defined as the use of statistical techniques to control a process or production method. SPC tools and procedures can help you monitor process behavior, discover issues in internal systems, and find solutions for production issues. </a:t>
            </a:r>
            <a:r>
              <a:rPr sz="2000"/>
              <a:t>(</a:t>
            </a:r>
            <a:r>
              <a:rPr sz="2000" u="sng">
                <a:hlinkClick r:id="rId3" tooltip=""/>
              </a:rPr>
              <a:t>https://asq.org/quality-resources/statistical-process-control</a:t>
            </a:r>
            <a:r>
              <a:rPr sz="2000"/>
              <a:t>)</a:t>
            </a:r>
            <a:endParaRPr sz="2000"/>
          </a:p>
          <a:p>
            <a:pPr marL="0" indent="0">
              <a:buFont typeface="Arial"/>
              <a:buNone/>
              <a:defRPr/>
            </a:pPr>
            <a:endParaRPr sz="2000"/>
          </a:p>
          <a:p>
            <a:pPr marL="0" indent="0">
              <a:buFont typeface="Arial"/>
              <a:buNone/>
              <a:defRPr/>
            </a:pPr>
            <a:r>
              <a:rPr sz="2000" b="1"/>
              <a:t>Basic Idea: </a:t>
            </a:r>
            <a:endParaRPr sz="2000" b="1"/>
          </a:p>
          <a:p>
            <a:pPr>
              <a:defRPr/>
            </a:pPr>
            <a:r>
              <a:rPr sz="2000"/>
              <a:t>Patterns provide insight into underlying process behavior</a:t>
            </a:r>
            <a:endParaRPr sz="2000"/>
          </a:p>
          <a:p>
            <a:pPr>
              <a:defRPr/>
            </a:pPr>
            <a:r>
              <a:rPr lang="en-US" sz="20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4" tooltip=""/>
              </a:rPr>
              <a:t>https://en.wikipedia.org/wiki/Nelson_rules</a:t>
            </a:r>
            <a:endParaRPr sz="2000"/>
          </a:p>
          <a:p>
            <a:pPr>
              <a:defRPr/>
            </a:pPr>
            <a:r>
              <a:rPr sz="2000"/>
              <a:t>Commonly applied in industry (e.g., manufacturing, healthcare, service, etc). </a:t>
            </a:r>
            <a:endParaRPr sz="2000"/>
          </a:p>
          <a:p>
            <a:pPr>
              <a:defRPr/>
            </a:pPr>
            <a:endParaRPr sz="2000"/>
          </a:p>
          <a:p>
            <a:pPr marL="0" indent="0">
              <a:buFont typeface="Arial"/>
              <a:buNone/>
              <a:defRPr/>
            </a:pPr>
            <a:r>
              <a:rPr sz="2000" b="1"/>
              <a:t>Challenge</a:t>
            </a:r>
            <a:r>
              <a:rPr sz="2000"/>
              <a:t>: </a:t>
            </a:r>
            <a:endParaRPr sz="2000"/>
          </a:p>
          <a:p>
            <a:pPr marL="171450" marR="0" indent="-171450" algn="l">
              <a:lnSpc>
                <a:spcPct val="88000"/>
              </a:lnSpc>
              <a:spcBef>
                <a:spcPts val="74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Complex manage/apply in real-time.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07636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3184466" cy="583774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b="1"/>
              <a:t>SPC Rules</a:t>
            </a:r>
            <a:r>
              <a:rPr/>
              <a:t>: </a:t>
            </a:r>
            <a:br>
              <a:rPr/>
            </a:br>
            <a:br>
              <a:rPr/>
            </a:br>
            <a:r>
              <a:rPr/>
              <a:t>Differentiate signal from noise.</a:t>
            </a:r>
            <a:br>
              <a:rPr/>
            </a:br>
            <a:br>
              <a:rPr sz="2000"/>
            </a:br>
            <a:br>
              <a:rPr sz="2000"/>
            </a:br>
            <a:r>
              <a:rPr lang="en-US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"/>
              </a:rPr>
              <a:t>https://en.wikipedia.org/wiki/Nelson_rules</a:t>
            </a:r>
            <a:br>
              <a:rPr sz="2000"/>
            </a:br>
            <a:endParaRPr/>
          </a:p>
        </p:txBody>
      </p:sp>
      <p:pic>
        <p:nvPicPr>
          <p:cNvPr id="64772225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022665" y="208852"/>
            <a:ext cx="7929118" cy="64402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8337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SPyC Under the hood</a:t>
            </a:r>
            <a:endParaRPr/>
          </a:p>
        </p:txBody>
      </p:sp>
      <p:graphicFrame>
        <p:nvGraphicFramePr>
          <p:cNvPr id="781671896" name=""/>
          <p:cNvGraphicFramePr>
            <a:graphicFrameLocks xmlns:a="http://schemas.openxmlformats.org/drawingml/2006/main"/>
          </p:cNvGraphicFramePr>
          <p:nvPr/>
        </p:nvGraphicFramePr>
        <p:xfrm rot="0">
          <a:off x="664103" y="2123016"/>
          <a:ext cx="4157133" cy="336245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{8EC20E35-A176-4012-BC5E-935CFFF8708E}</a:tableStyleId>
              </a:tblPr>
              <a:tblGrid>
                <a:gridCol w="2078566"/>
                <a:gridCol w="2078566"/>
              </a:tblGrid>
              <a:tr h="661159">
                <a:tc>
                  <a:txBody>
                    <a:bodyPr/>
                    <a:p>
                      <a:pPr>
                        <a:defRPr/>
                      </a:pPr>
                      <a:r>
                        <a:rPr sz="2400"/>
                        <a:t>Purpose</a:t>
                      </a:r>
                      <a:endParaRPr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400"/>
                        <a:t>Component</a:t>
                      </a:r>
                      <a:endParaRPr sz="2400"/>
                    </a:p>
                  </a:txBody>
                  <a:tcPr/>
                </a:tc>
              </a:tr>
              <a:tr h="691556">
                <a:tc>
                  <a:txBody>
                    <a:bodyPr/>
                    <a:p>
                      <a:pPr>
                        <a:defRPr/>
                      </a:pPr>
                      <a:r>
                        <a:rPr sz="2000"/>
                        <a:t>Database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00"/>
                        <a:t>SQLite</a:t>
                      </a:r>
                      <a:endParaRPr sz="2000"/>
                    </a:p>
                  </a:txBody>
                  <a:tcPr/>
                </a:tc>
              </a:tr>
              <a:tr h="635297">
                <a:tc>
                  <a:txBody>
                    <a:bodyPr/>
                    <a:p>
                      <a:pPr>
                        <a:defRPr/>
                      </a:pPr>
                      <a:r>
                        <a:rPr sz="2000"/>
                        <a:t>Web framework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00"/>
                        <a:t>Python / Flask / Jinja</a:t>
                      </a:r>
                      <a:endParaRPr sz="2000"/>
                    </a:p>
                  </a:txBody>
                  <a:tcPr/>
                </a:tc>
              </a:tr>
              <a:tr h="635297">
                <a:tc>
                  <a:txBody>
                    <a:bodyPr/>
                    <a:p>
                      <a:pPr>
                        <a:defRPr/>
                      </a:pPr>
                      <a:r>
                        <a:rPr sz="2000"/>
                        <a:t>Plot visualization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00"/>
                        <a:t>Plotly.io</a:t>
                      </a:r>
                      <a:endParaRPr sz="2000"/>
                    </a:p>
                  </a:txBody>
                  <a:tcPr/>
                </a:tc>
              </a:tr>
              <a:tr h="635297">
                <a:tc>
                  <a:txBody>
                    <a:bodyPr/>
                    <a:p>
                      <a:pPr>
                        <a:defRPr/>
                      </a:pPr>
                      <a:r>
                        <a:rPr sz="2000"/>
                        <a:t>Web Styling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00"/>
                        <a:t>Bootstrap CSS</a:t>
                      </a:r>
                      <a:endParaRPr sz="200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133812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000625" y="1952585"/>
            <a:ext cx="7020426" cy="3428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2026-03-27T20:07:24Z</dcterms:modified>
</cp:coreProperties>
</file>