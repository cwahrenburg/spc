
<file path=[Content_Types].xml><?xml version="1.0" encoding="utf-8"?>
<Types xmlns="http://schemas.openxmlformats.org/package/2006/content-types">
  <Default Extension="xml" ContentType="application/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3.xml" ContentType="application/vnd.openxmlformats-officedocument.presentationml.notes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slideLayouts/slideLayout8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notesSlides/notesSlide2.xml" ContentType="application/vnd.openxmlformats-officedocument.presentationml.notesSlide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7"/>
  </p:notesMasterIdLst>
  <p:sldIdLst>
    <p:sldId id="256" r:id="rId4"/>
    <p:sldId id="257" r:id="rId5"/>
    <p:sldId id="258" r:id="rId6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8EC20E35-A176-4012-BC5E-935CFFF8708E}">
  <a:tblStyle styleId="{8EC20E35-A176-4012-BC5E-935CFFF8708E}" styleName="Medium Style 3">
    <a:wholeTbl>
      <a:tcTxStyle>
        <a:fontRef idx="minor">
          <a:prstClr val="black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38100">
              <a:solidFill>
                <a:schemeClr val="dk1"/>
              </a:solidFill>
            </a:ln>
          </a:top>
          <a:bottom>
            <a:ln w="38100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dk1"/>
      </a:tcTxStyle>
      <a:tcStyle>
        <a:tcBdr>
          <a:top>
            <a:ln w="38100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black"/>
        </a:fontRef>
        <a:schemeClr val="lt1"/>
      </a:tcTxStyle>
      <a:tcStyle>
        <a:tcBdr>
          <a:bottom>
            <a:ln w="38100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 /><Relationship Id="rId9" Type="http://schemas.openxmlformats.org/officeDocument/2006/relationships/tableStyles" Target="tableStyles.xml" /><Relationship Id="rId10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9986661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923648519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1739670658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438133218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026226640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16585703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324430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1921637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4208383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7D34FEC-9E51-A785-8569-BA5FD343328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45BDB5D-F22F-1E80-70C9-4C0EB748FD0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9078216" name="Title 1"/>
          <p:cNvSpPr>
            <a:spLocks noGrp="1"/>
          </p:cNvSpPr>
          <p:nvPr>
            <p:ph type="ctrTitle"/>
          </p:nvPr>
        </p:nvSpPr>
        <p:spPr bwMode="auto">
          <a:xfrm>
            <a:off x="1523999" y="1122362"/>
            <a:ext cx="9144000" cy="2387599"/>
          </a:xfrm>
        </p:spPr>
        <p:txBody>
          <a:bodyPr anchor="b"/>
          <a:lstStyle>
            <a:lvl1pPr algn="ctr">
              <a:defRPr sz="4500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46638579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3999" y="3602037"/>
            <a:ext cx="9144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pPr>
              <a:defRPr/>
            </a:pPr>
            <a:r>
              <a:rPr/>
              <a:t>Click to edit Master subtitle style</a:t>
            </a:r>
            <a:endParaRPr/>
          </a:p>
        </p:txBody>
      </p:sp>
      <p:sp>
        <p:nvSpPr>
          <p:cNvPr id="1949952962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170480491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612539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4945762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376874315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41005827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106279048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43787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7682932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4500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373908246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6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76099723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180607213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3896595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854527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195476892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199" y="1825625"/>
            <a:ext cx="5181599" cy="4351338"/>
          </a:xfrm>
        </p:spPr>
        <p:txBody>
          <a:bodyPr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277599246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599" cy="4351338"/>
          </a:xfrm>
        </p:spPr>
        <p:txBody>
          <a:bodyPr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74135316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575397542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628982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9824288" name="Title 1"/>
          <p:cNvSpPr>
            <a:spLocks noGrp="1"/>
          </p:cNvSpPr>
          <p:nvPr>
            <p:ph type="title"/>
          </p:nvPr>
        </p:nvSpPr>
        <p:spPr bwMode="auto">
          <a:xfrm>
            <a:off x="839787" y="365125"/>
            <a:ext cx="10515600" cy="1325562"/>
          </a:xfrm>
        </p:spPr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80862713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9" y="1681162"/>
            <a:ext cx="5157786" cy="823911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642145161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9" y="2505074"/>
            <a:ext cx="5157786" cy="3684587"/>
          </a:xfrm>
        </p:spPr>
        <p:txBody>
          <a:bodyPr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329412359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2"/>
            <a:ext cx="5183187" cy="823911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699216521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7" cy="3684587"/>
          </a:xfrm>
        </p:spPr>
        <p:txBody>
          <a:bodyPr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805044996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454604785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5127230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392484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195226433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1656755875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3718522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0625864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1005882407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0735573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95454327" name="Title 1"/>
          <p:cNvSpPr>
            <a:spLocks noGrp="1"/>
          </p:cNvSpPr>
          <p:nvPr>
            <p:ph type="title"/>
          </p:nvPr>
        </p:nvSpPr>
        <p:spPr bwMode="auto">
          <a:xfrm>
            <a:off x="839787" y="457200"/>
            <a:ext cx="3932237" cy="1600200"/>
          </a:xfrm>
        </p:spPr>
        <p:txBody>
          <a:bodyPr anchor="b"/>
          <a:lstStyle>
            <a:lvl1pPr>
              <a:defRPr sz="2400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678051156" name="Content Placeholder 2"/>
          <p:cNvSpPr>
            <a:spLocks noGrp="1"/>
          </p:cNvSpPr>
          <p:nvPr>
            <p:ph idx="1"/>
          </p:nvPr>
        </p:nvSpPr>
        <p:spPr bwMode="auto">
          <a:xfrm>
            <a:off x="5183187" y="987425"/>
            <a:ext cx="617220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304106131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7" y="2057399"/>
            <a:ext cx="3932237" cy="381158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244991317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1067475066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309724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524858" name="Title 1"/>
          <p:cNvSpPr>
            <a:spLocks noGrp="1"/>
          </p:cNvSpPr>
          <p:nvPr>
            <p:ph type="title"/>
          </p:nvPr>
        </p:nvSpPr>
        <p:spPr bwMode="auto">
          <a:xfrm>
            <a:off x="839787" y="457200"/>
            <a:ext cx="3932237" cy="1600200"/>
          </a:xfrm>
        </p:spPr>
        <p:txBody>
          <a:bodyPr anchor="b"/>
          <a:lstStyle>
            <a:lvl1pPr>
              <a:defRPr sz="2400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623507683" name="Picture Placeholder 2"/>
          <p:cNvSpPr>
            <a:spLocks noChangeAspect="1" noGrp="1"/>
          </p:cNvSpPr>
          <p:nvPr>
            <p:ph type="pic" idx="1"/>
          </p:nvPr>
        </p:nvSpPr>
        <p:spPr bwMode="auto">
          <a:xfrm>
            <a:off x="5183187" y="987425"/>
            <a:ext cx="6172200" cy="4873625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pPr>
              <a:defRPr/>
            </a:pPr>
            <a:r>
              <a:rPr/>
              <a:t>Click icon to add picture</a:t>
            </a:r>
            <a:endParaRPr/>
          </a:p>
        </p:txBody>
      </p:sp>
      <p:sp>
        <p:nvSpPr>
          <p:cNvPr id="1469033554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7" y="2057399"/>
            <a:ext cx="3932237" cy="381158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221810192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1872650951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954123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176129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895938412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24837495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44946427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645247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5653671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899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984809627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199" y="365125"/>
            <a:ext cx="7734299" cy="5811838"/>
          </a:xfrm>
        </p:spPr>
        <p:txBody>
          <a:bodyPr vert="eaVert"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20315050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183707305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0575197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83324" name="Title Placeholder 1"/>
          <p:cNvSpPr>
            <a:spLocks noGrp="1"/>
          </p:cNvSpPr>
          <p:nvPr>
            <p:ph type="title"/>
          </p:nvPr>
        </p:nvSpPr>
        <p:spPr bwMode="auto">
          <a:xfrm>
            <a:off x="838199" y="365125"/>
            <a:ext cx="10515600" cy="13255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2062561272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199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2102667395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199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1895713968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599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1108714839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599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lvl1pPr algn="l" defTabSz="685800" rtl="0">
        <a:lnSpc>
          <a:spcPct val="90000"/>
        </a:lnSpc>
        <a:spcBef>
          <a:spcPts val="0"/>
        </a:spcBef>
        <a:buNone/>
        <a:defRPr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>
        <a:lnSpc>
          <a:spcPct val="90000"/>
        </a:lnSpc>
        <a:spcBef>
          <a:spcPts val="749"/>
        </a:spcBef>
        <a:buFont typeface="Arial"/>
        <a:buChar char="•"/>
        <a:defRPr sz="21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>
        <a:lnSpc>
          <a:spcPct val="90000"/>
        </a:lnSpc>
        <a:spcBef>
          <a:spcPts val="374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>
        <a:lnSpc>
          <a:spcPct val="90000"/>
        </a:lnSpc>
        <a:spcBef>
          <a:spcPts val="374"/>
        </a:spcBef>
        <a:buFont typeface="Arial"/>
        <a:buChar char="•"/>
        <a:defRPr sz="15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>
        <a:lnSpc>
          <a:spcPct val="90000"/>
        </a:lnSpc>
        <a:spcBef>
          <a:spcPts val="374"/>
        </a:spcBef>
        <a:buFont typeface="Arial"/>
        <a:buChar char="•"/>
        <a:defRPr sz="135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>
        <a:lnSpc>
          <a:spcPct val="90000"/>
        </a:lnSpc>
        <a:spcBef>
          <a:spcPts val="374"/>
        </a:spcBef>
        <a:buFont typeface="Arial"/>
        <a:buChar char="•"/>
        <a:defRPr sz="135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>
        <a:lnSpc>
          <a:spcPct val="90000"/>
        </a:lnSpc>
        <a:spcBef>
          <a:spcPts val="374"/>
        </a:spcBef>
        <a:buFont typeface="Arial"/>
        <a:buChar char="•"/>
        <a:defRPr sz="135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>
        <a:lnSpc>
          <a:spcPct val="90000"/>
        </a:lnSpc>
        <a:spcBef>
          <a:spcPts val="374"/>
        </a:spcBef>
        <a:buFont typeface="Arial"/>
        <a:buChar char="•"/>
        <a:defRPr sz="135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>
        <a:lnSpc>
          <a:spcPct val="90000"/>
        </a:lnSpc>
        <a:spcBef>
          <a:spcPts val="374"/>
        </a:spcBef>
        <a:buFont typeface="Arial"/>
        <a:buChar char="•"/>
        <a:defRPr sz="135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>
        <a:lnSpc>
          <a:spcPct val="90000"/>
        </a:lnSpc>
        <a:spcBef>
          <a:spcPts val="374"/>
        </a:spcBef>
        <a:buFont typeface="Arial"/>
        <a:buChar char="•"/>
        <a:defRPr sz="13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685800" rtl="0">
        <a:defRPr sz="135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>
        <a:defRPr sz="135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>
        <a:defRPr sz="135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>
        <a:defRPr sz="135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>
        <a:defRPr sz="135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>
        <a:defRPr sz="135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>
        <a:defRPr sz="135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>
        <a:defRPr sz="135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>
        <a:defRPr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github.com/cwahrenburg" TargetMode="Externa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en.wikipedia.org/wiki/Nelson_rules" TargetMode="Externa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3297883" name="Title 1"/>
          <p:cNvSpPr>
            <a:spLocks noGrp="1"/>
          </p:cNvSpPr>
          <p:nvPr>
            <p:ph type="ctrTitle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b" anchorCtr="0" forceAA="0" upright="0" compatLnSpc="0">
            <a:normAutofit fontScale="95000" lnSpcReduction="1000"/>
          </a:bodyPr>
          <a:lstStyle/>
          <a:p>
            <a:pPr>
              <a:defRPr/>
            </a:pPr>
            <a:r>
              <a:rPr lang="en-US" b="1" u="none"/>
              <a:t>SPyC:</a:t>
            </a:r>
            <a:r>
              <a:rPr lang="en-US" b="1"/>
              <a:t> Simple Statistical Process Control System </a:t>
            </a:r>
            <a:br>
              <a:rPr lang="en-US" b="1"/>
            </a:br>
            <a:r>
              <a:rPr lang="en-US" b="1"/>
              <a:t>(CS50 Final Project)</a:t>
            </a:r>
            <a:br>
              <a:rPr lang="en-US" b="1"/>
            </a:br>
            <a:endParaRPr b="1"/>
          </a:p>
        </p:txBody>
      </p:sp>
      <p:sp>
        <p:nvSpPr>
          <p:cNvPr id="771422501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marL="0" indent="0">
              <a:buFont typeface="Arial"/>
              <a:buNone/>
              <a:defRPr/>
            </a:pPr>
            <a:r>
              <a:rPr/>
              <a:t>Created by: Chris Wahrenburg</a:t>
            </a:r>
            <a:endParaRPr/>
          </a:p>
          <a:p>
            <a:pPr marL="0" indent="0">
              <a:buFont typeface="Arial"/>
              <a:buNone/>
              <a:defRPr/>
            </a:pPr>
            <a:endParaRPr/>
          </a:p>
          <a:p>
            <a:pPr marL="0" indent="0">
              <a:buFont typeface="Arial"/>
              <a:buNone/>
              <a:defRPr/>
            </a:pPr>
            <a:r>
              <a:rPr/>
              <a:t>Contact</a:t>
            </a:r>
            <a:endParaRPr/>
          </a:p>
          <a:p>
            <a:pPr>
              <a:defRPr/>
            </a:pPr>
            <a:r>
              <a:rPr b="1"/>
              <a:t>Github: </a:t>
            </a:r>
            <a:r>
              <a:rPr lang="en-US" sz="2100" b="0" i="0" u="sng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  <a:hlinkClick r:id="rId3" tooltip=""/>
              </a:rPr>
              <a:t>https://github.com/cwahrenburg</a:t>
            </a:r>
            <a:endParaRPr/>
          </a:p>
          <a:p>
            <a:pPr>
              <a:defRPr/>
            </a:pPr>
            <a:r>
              <a:rPr/>
              <a:t>edX: cpw712</a:t>
            </a:r>
            <a:endParaRPr/>
          </a:p>
          <a:p>
            <a:pPr>
              <a:defRPr/>
            </a:pPr>
            <a:r>
              <a:rPr/>
              <a:t>Madison, USA</a:t>
            </a:r>
            <a:endParaRPr/>
          </a:p>
          <a:p>
            <a:pPr>
              <a:defRPr/>
            </a:pPr>
            <a:r>
              <a:rPr/>
              <a:t>Date: </a:t>
            </a:r>
            <a:r>
              <a:rPr b="1"/>
              <a:t>FILL Out when complete</a:t>
            </a:r>
            <a:endParaRPr b="1"/>
          </a:p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8484021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Introduction / Problem</a:t>
            </a:r>
            <a:endParaRPr/>
          </a:p>
        </p:txBody>
      </p:sp>
      <p:sp>
        <p:nvSpPr>
          <p:cNvPr id="457627938" name="Content Placeholder 2"/>
          <p:cNvSpPr>
            <a:spLocks noGrp="1"/>
          </p:cNvSpPr>
          <p:nvPr>
            <p:ph idx="1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95000" lnSpcReduction="1000"/>
          </a:bodyPr>
          <a:lstStyle/>
          <a:p>
            <a:pPr marL="0" indent="0">
              <a:buFont typeface="Arial"/>
              <a:buNone/>
              <a:defRPr/>
            </a:pPr>
            <a:r>
              <a:rPr sz="2000" b="1"/>
              <a:t>Definition</a:t>
            </a:r>
            <a:r>
              <a:rPr sz="2000"/>
              <a:t>: </a:t>
            </a:r>
            <a:endParaRPr sz="2000"/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Statistical process control (SPC) is defined as the use of statistical techniques to control a process or production method. SPC tools and procedures can help you monitor process behavior, discover issues in internal systems, and find solutions for production issues. </a:t>
            </a:r>
            <a:r>
              <a:rPr sz="2000"/>
              <a:t>(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https://asq.org/quality-resources/statistical-process-control</a:t>
            </a:r>
            <a:r>
              <a:rPr sz="2000"/>
              <a:t>)</a:t>
            </a:r>
            <a:endParaRPr sz="2000"/>
          </a:p>
          <a:p>
            <a:pPr marL="0" indent="0">
              <a:buFont typeface="Arial"/>
              <a:buNone/>
              <a:defRPr/>
            </a:pPr>
            <a:endParaRPr sz="2000"/>
          </a:p>
          <a:p>
            <a:pPr marL="0" indent="0">
              <a:buFont typeface="Arial"/>
              <a:buNone/>
              <a:defRPr/>
            </a:pPr>
            <a:r>
              <a:rPr sz="2000" b="1"/>
              <a:t>Basic Idea: </a:t>
            </a:r>
            <a:endParaRPr sz="2000" b="1"/>
          </a:p>
          <a:p>
            <a:pPr>
              <a:defRPr/>
            </a:pPr>
            <a:r>
              <a:rPr sz="2000"/>
              <a:t>Patterns provide insight into underlying process behavior</a:t>
            </a:r>
            <a:endParaRPr sz="2000"/>
          </a:p>
          <a:p>
            <a:pPr>
              <a:defRPr/>
            </a:pPr>
            <a:r>
              <a:rPr lang="en-US" sz="2000" b="0" i="0" u="sng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  <a:hlinkClick r:id="rId3" tooltip=""/>
              </a:rPr>
              <a:t>https://en.wikipedia.org/wiki/Nelson_rules</a:t>
            </a:r>
            <a:endParaRPr sz="2000"/>
          </a:p>
          <a:p>
            <a:pPr>
              <a:defRPr/>
            </a:pPr>
            <a:r>
              <a:rPr sz="2000"/>
              <a:t>Commonly applied in industry (e.g., manufacturing, healthcare, service, etc). </a:t>
            </a:r>
            <a:endParaRPr sz="2000"/>
          </a:p>
          <a:p>
            <a:pPr>
              <a:defRPr/>
            </a:pPr>
            <a:endParaRPr sz="2000"/>
          </a:p>
          <a:p>
            <a:pPr marL="0" indent="0">
              <a:buFont typeface="Arial"/>
              <a:buNone/>
              <a:defRPr/>
            </a:pPr>
            <a:r>
              <a:rPr sz="2000" b="1"/>
              <a:t>Challenge</a:t>
            </a:r>
            <a:r>
              <a:rPr sz="2000"/>
              <a:t>: </a:t>
            </a:r>
            <a:endParaRPr sz="2000"/>
          </a:p>
          <a:p>
            <a:pPr marL="171450" marR="0" indent="-171450" algn="l">
              <a:lnSpc>
                <a:spcPct val="88000"/>
              </a:lnSpc>
              <a:spcBef>
                <a:spcPts val="749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Complex manage/apply in real-time.</a:t>
            </a:r>
            <a:endParaRPr sz="2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931513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SPyC Under the hood</a:t>
            </a:r>
            <a:endParaRPr/>
          </a:p>
        </p:txBody>
      </p:sp>
      <p:graphicFrame>
        <p:nvGraphicFramePr>
          <p:cNvPr id="2123760398" name=""/>
          <p:cNvGraphicFramePr>
            <a:graphicFrameLocks xmlns:a="http://schemas.openxmlformats.org/drawingml/2006/main"/>
          </p:cNvGraphicFramePr>
          <p:nvPr/>
        </p:nvGraphicFramePr>
        <p:xfrm>
          <a:off x="664103" y="2123016"/>
          <a:ext cx="4157133" cy="3362450"/>
        </p:xfrm>
        <a:graphic>
          <a:graphicData uri="http://schemas.openxmlformats.org/drawingml/2006/table">
            <a:tbl>
              <a:tblPr firstRow="1" firstCol="0" lastRow="0" lastCol="0" bandRow="1" bandCol="0">
                <a:tableStyleId>{8EC20E35-A176-4012-BC5E-935CFFF8708E}</a:tableStyleId>
              </a:tblPr>
              <a:tblGrid>
                <a:gridCol w="2078566"/>
                <a:gridCol w="2078566"/>
              </a:tblGrid>
              <a:tr h="661159">
                <a:tc>
                  <a:txBody>
                    <a:bodyPr/>
                    <a:p>
                      <a:pPr>
                        <a:defRPr/>
                      </a:pPr>
                      <a:r>
                        <a:rPr sz="2400"/>
                        <a:t>Purpose</a:t>
                      </a:r>
                      <a:endParaRPr sz="24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2400"/>
                        <a:t>Component</a:t>
                      </a:r>
                      <a:endParaRPr sz="2400"/>
                    </a:p>
                  </a:txBody>
                  <a:tcPr/>
                </a:tc>
              </a:tr>
              <a:tr h="691556">
                <a:tc>
                  <a:txBody>
                    <a:bodyPr/>
                    <a:p>
                      <a:pPr>
                        <a:defRPr/>
                      </a:pPr>
                      <a:r>
                        <a:rPr sz="2000"/>
                        <a:t>Database</a:t>
                      </a:r>
                      <a:endParaRPr sz="20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2000"/>
                        <a:t>SQLite</a:t>
                      </a:r>
                      <a:endParaRPr sz="2000"/>
                    </a:p>
                  </a:txBody>
                  <a:tcPr/>
                </a:tc>
              </a:tr>
              <a:tr h="635297">
                <a:tc>
                  <a:txBody>
                    <a:bodyPr/>
                    <a:p>
                      <a:pPr>
                        <a:defRPr/>
                      </a:pPr>
                      <a:r>
                        <a:rPr sz="2000"/>
                        <a:t>Web framework</a:t>
                      </a:r>
                      <a:endParaRPr sz="20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2000"/>
                        <a:t>Python / Flask / Jinja</a:t>
                      </a:r>
                      <a:endParaRPr sz="2000"/>
                    </a:p>
                  </a:txBody>
                  <a:tcPr/>
                </a:tc>
              </a:tr>
              <a:tr h="635297">
                <a:tc>
                  <a:txBody>
                    <a:bodyPr/>
                    <a:p>
                      <a:pPr>
                        <a:defRPr/>
                      </a:pPr>
                      <a:r>
                        <a:rPr sz="2000"/>
                        <a:t>Plot visualization</a:t>
                      </a:r>
                      <a:endParaRPr sz="20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2000"/>
                        <a:t>Plotly.io</a:t>
                      </a:r>
                      <a:endParaRPr sz="2000"/>
                    </a:p>
                  </a:txBody>
                  <a:tcPr/>
                </a:tc>
              </a:tr>
              <a:tr h="635297">
                <a:tc>
                  <a:txBody>
                    <a:bodyPr/>
                    <a:p>
                      <a:pPr>
                        <a:defRPr/>
                      </a:pPr>
                      <a:r>
                        <a:rPr sz="2000"/>
                        <a:t>Web Styling</a:t>
                      </a:r>
                      <a:endParaRPr sz="20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2000"/>
                        <a:t>Bootstrap CSS</a:t>
                      </a:r>
                      <a:endParaRPr sz="2000"/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127404461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5000625" y="1952585"/>
            <a:ext cx="7020426" cy="342899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Blank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ONLYOFFICE/9.1.0.173</Application>
  <PresentationFormat>On-screen Show (4:3)</PresentationFormat>
  <Paragraphs>0</Paragraphs>
  <Slides>3</Slides>
  <Notes>3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4" baseType="lpstr">
      <vt:lpstr>Theme 1</vt:lpstr>
      <vt:lpstr>Slide 1</vt:lpstr>
      <vt:lpstr>Slide 2</vt:lpstr>
      <vt:lpstr>Slide 3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6</cp:revision>
  <dcterms:modified xsi:type="dcterms:W3CDTF">2026-03-25T10:29:27Z</dcterms:modified>
</cp:coreProperties>
</file>